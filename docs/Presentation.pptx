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8288000" cy="10287000"/>
  <p:notesSz cx="6858000" cy="9144000"/>
  <p:embeddedFontLst>
    <p:embeddedFont>
      <p:font typeface="Calibri" panose="020F0502020204030204" pitchFamily="34" charset="0"/>
      <p:regular r:id="rId7"/>
      <p:bold r:id="rId8"/>
      <p:italic r:id="rId9"/>
      <p:boldItalic r:id="rId10"/>
    </p:embeddedFont>
    <p:embeddedFont>
      <p:font typeface="DM Sans" panose="020B0604020202020204" charset="0"/>
      <p:regular r:id="rId11"/>
    </p:embeddedFont>
    <p:embeddedFont>
      <p:font typeface="Handelson Four" panose="020B0604020202020204" charset="0"/>
      <p:regular r:id="rId12"/>
    </p:embeddedFont>
    <p:embeddedFont>
      <p:font typeface="Lumios Brush" panose="020B0604020202020204" charset="0"/>
      <p:regular r:id="rId13"/>
    </p:embeddedFont>
    <p:embeddedFont>
      <p:font typeface="Sofia Sans" panose="020B06040202020202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2" d="100"/>
          <a:sy n="72" d="100"/>
        </p:scale>
        <p:origin x="696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20777" r="-20777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133765" y="1686957"/>
            <a:ext cx="14020470" cy="6720098"/>
            <a:chOff x="0" y="0"/>
            <a:chExt cx="3692634" cy="176990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692634" cy="1769902"/>
            </a:xfrm>
            <a:custGeom>
              <a:avLst/>
              <a:gdLst/>
              <a:ahLst/>
              <a:cxnLst/>
              <a:rect l="l" t="t" r="r" b="b"/>
              <a:pathLst>
                <a:path w="3692634" h="1769902">
                  <a:moveTo>
                    <a:pt x="37549" y="0"/>
                  </a:moveTo>
                  <a:lnTo>
                    <a:pt x="3655085" y="0"/>
                  </a:lnTo>
                  <a:cubicBezTo>
                    <a:pt x="3675823" y="0"/>
                    <a:pt x="3692634" y="16811"/>
                    <a:pt x="3692634" y="37549"/>
                  </a:cubicBezTo>
                  <a:lnTo>
                    <a:pt x="3692634" y="1732354"/>
                  </a:lnTo>
                  <a:cubicBezTo>
                    <a:pt x="3692634" y="1753091"/>
                    <a:pt x="3675823" y="1769902"/>
                    <a:pt x="3655085" y="1769902"/>
                  </a:cubicBezTo>
                  <a:lnTo>
                    <a:pt x="37549" y="1769902"/>
                  </a:lnTo>
                  <a:cubicBezTo>
                    <a:pt x="16811" y="1769902"/>
                    <a:pt x="0" y="1753091"/>
                    <a:pt x="0" y="1732354"/>
                  </a:cubicBezTo>
                  <a:lnTo>
                    <a:pt x="0" y="37549"/>
                  </a:lnTo>
                  <a:cubicBezTo>
                    <a:pt x="0" y="16811"/>
                    <a:pt x="16811" y="0"/>
                    <a:pt x="3754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3692634" cy="18080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133764" y="358245"/>
            <a:ext cx="14020470" cy="8934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6901"/>
              </a:lnSpc>
              <a:spcBef>
                <a:spcPct val="0"/>
              </a:spcBef>
            </a:pPr>
            <a:r>
              <a:rPr lang="en-US" sz="33501" dirty="0" err="1">
                <a:solidFill>
                  <a:srgbClr val="42AA5D"/>
                </a:solidFill>
                <a:latin typeface="Lumios Brush"/>
                <a:ea typeface="Lumios Brush"/>
                <a:cs typeface="Lumios Brush"/>
                <a:sym typeface="Lumios Brush"/>
              </a:rPr>
              <a:t>Rebank</a:t>
            </a:r>
            <a:endParaRPr lang="en-US" sz="33501" dirty="0">
              <a:solidFill>
                <a:srgbClr val="42AA5D"/>
              </a:solidFill>
              <a:latin typeface="Lumios Brush"/>
              <a:ea typeface="Lumios Brush"/>
              <a:cs typeface="Lumios Brush"/>
              <a:sym typeface="Lumios Brush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-893966" y="369841"/>
            <a:ext cx="5613922" cy="4273598"/>
          </a:xfrm>
          <a:custGeom>
            <a:avLst/>
            <a:gdLst/>
            <a:ahLst/>
            <a:cxnLst/>
            <a:rect l="l" t="t" r="r" b="b"/>
            <a:pathLst>
              <a:path w="5613922" h="4273598">
                <a:moveTo>
                  <a:pt x="0" y="0"/>
                </a:moveTo>
                <a:lnTo>
                  <a:pt x="5613923" y="0"/>
                </a:lnTo>
                <a:lnTo>
                  <a:pt x="5613923" y="4273599"/>
                </a:lnTo>
                <a:lnTo>
                  <a:pt x="0" y="42735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9720689" y="369841"/>
            <a:ext cx="3492378" cy="1903346"/>
          </a:xfrm>
          <a:custGeom>
            <a:avLst/>
            <a:gdLst/>
            <a:ahLst/>
            <a:cxnLst/>
            <a:rect l="l" t="t" r="r" b="b"/>
            <a:pathLst>
              <a:path w="3492378" h="1903346">
                <a:moveTo>
                  <a:pt x="0" y="0"/>
                </a:moveTo>
                <a:lnTo>
                  <a:pt x="3492378" y="0"/>
                </a:lnTo>
                <a:lnTo>
                  <a:pt x="3492378" y="1903346"/>
                </a:lnTo>
                <a:lnTo>
                  <a:pt x="0" y="19033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787516">
            <a:off x="15314824" y="2039670"/>
            <a:ext cx="3579876" cy="4114800"/>
          </a:xfrm>
          <a:custGeom>
            <a:avLst/>
            <a:gdLst/>
            <a:ahLst/>
            <a:cxnLst/>
            <a:rect l="l" t="t" r="r" b="b"/>
            <a:pathLst>
              <a:path w="3579876" h="4114800">
                <a:moveTo>
                  <a:pt x="0" y="0"/>
                </a:moveTo>
                <a:lnTo>
                  <a:pt x="3579876" y="0"/>
                </a:lnTo>
                <a:lnTo>
                  <a:pt x="35798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7086157" y="7982142"/>
            <a:ext cx="3510725" cy="3264974"/>
          </a:xfrm>
          <a:custGeom>
            <a:avLst/>
            <a:gdLst/>
            <a:ahLst/>
            <a:cxnLst/>
            <a:rect l="l" t="t" r="r" b="b"/>
            <a:pathLst>
              <a:path w="3510725" h="3264974">
                <a:moveTo>
                  <a:pt x="0" y="0"/>
                </a:moveTo>
                <a:lnTo>
                  <a:pt x="3510725" y="0"/>
                </a:lnTo>
                <a:lnTo>
                  <a:pt x="3510725" y="3264974"/>
                </a:lnTo>
                <a:lnTo>
                  <a:pt x="0" y="326497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-540981" y="7003792"/>
            <a:ext cx="3978802" cy="2387281"/>
          </a:xfrm>
          <a:custGeom>
            <a:avLst/>
            <a:gdLst/>
            <a:ahLst/>
            <a:cxnLst/>
            <a:rect l="l" t="t" r="r" b="b"/>
            <a:pathLst>
              <a:path w="3978802" h="2387281">
                <a:moveTo>
                  <a:pt x="0" y="0"/>
                </a:moveTo>
                <a:lnTo>
                  <a:pt x="3978802" y="0"/>
                </a:lnTo>
                <a:lnTo>
                  <a:pt x="3978802" y="2387281"/>
                </a:lnTo>
                <a:lnTo>
                  <a:pt x="0" y="238728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3780643" y="7227348"/>
            <a:ext cx="3909024" cy="2599501"/>
          </a:xfrm>
          <a:custGeom>
            <a:avLst/>
            <a:gdLst/>
            <a:ahLst/>
            <a:cxnLst/>
            <a:rect l="l" t="t" r="r" b="b"/>
            <a:pathLst>
              <a:path w="3909024" h="2599501">
                <a:moveTo>
                  <a:pt x="0" y="0"/>
                </a:moveTo>
                <a:lnTo>
                  <a:pt x="3909023" y="0"/>
                </a:lnTo>
                <a:lnTo>
                  <a:pt x="3909023" y="2599500"/>
                </a:lnTo>
                <a:lnTo>
                  <a:pt x="0" y="25995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4366642" y="5640372"/>
            <a:ext cx="9554716" cy="2028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18"/>
              </a:lnSpc>
            </a:pPr>
            <a:r>
              <a:rPr lang="en-US" sz="2870">
                <a:solidFill>
                  <a:srgbClr val="000000"/>
                </a:solidFill>
                <a:latin typeface="Sofia Sans"/>
                <a:ea typeface="Sofia Sans"/>
                <a:cs typeface="Sofia Sans"/>
                <a:sym typeface="Sofia Sans"/>
              </a:rPr>
              <a:t>ИЗГОТВЕН ОТ:</a:t>
            </a:r>
          </a:p>
          <a:p>
            <a:pPr marL="0" lvl="0" indent="0" algn="ctr">
              <a:lnSpc>
                <a:spcPts val="4018"/>
              </a:lnSpc>
              <a:spcBef>
                <a:spcPct val="0"/>
              </a:spcBef>
            </a:pPr>
            <a:r>
              <a:rPr lang="en-US" sz="2870">
                <a:solidFill>
                  <a:srgbClr val="000000"/>
                </a:solidFill>
                <a:latin typeface="Sofia Sans"/>
                <a:ea typeface="Sofia Sans"/>
                <a:cs typeface="Sofia Sans"/>
                <a:sym typeface="Sofia Sans"/>
              </a:rPr>
              <a:t> МАРТИН ДИМИТРОВ, НИКОЛ СТОЯНОВА , ОЛЕКСАНДЪР ВИНИЧЕНКО, АСПАРУХ ГЕОРГИЕВ, АНТОН БАБЕВ, НИКОЛАЙ ЖЕЛЕВ, МАРТИН ШАВОВ,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20777" r="-20777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2632897" y="4313243"/>
            <a:ext cx="3555873" cy="2706908"/>
          </a:xfrm>
          <a:custGeom>
            <a:avLst/>
            <a:gdLst/>
            <a:ahLst/>
            <a:cxnLst/>
            <a:rect l="l" t="t" r="r" b="b"/>
            <a:pathLst>
              <a:path w="3555873" h="2706908">
                <a:moveTo>
                  <a:pt x="0" y="0"/>
                </a:moveTo>
                <a:lnTo>
                  <a:pt x="3555873" y="0"/>
                </a:lnTo>
                <a:lnTo>
                  <a:pt x="3555873" y="2706908"/>
                </a:lnTo>
                <a:lnTo>
                  <a:pt x="0" y="270690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028700" y="1028700"/>
            <a:ext cx="3013568" cy="3284543"/>
          </a:xfrm>
          <a:custGeom>
            <a:avLst/>
            <a:gdLst/>
            <a:ahLst/>
            <a:cxnLst/>
            <a:rect l="l" t="t" r="r" b="b"/>
            <a:pathLst>
              <a:path w="3013568" h="3284543">
                <a:moveTo>
                  <a:pt x="0" y="0"/>
                </a:moveTo>
                <a:lnTo>
                  <a:pt x="3013568" y="0"/>
                </a:lnTo>
                <a:lnTo>
                  <a:pt x="3013568" y="3284543"/>
                </a:lnTo>
                <a:lnTo>
                  <a:pt x="0" y="328454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789729">
            <a:off x="942961" y="6428839"/>
            <a:ext cx="2452759" cy="2619769"/>
          </a:xfrm>
          <a:custGeom>
            <a:avLst/>
            <a:gdLst/>
            <a:ahLst/>
            <a:cxnLst/>
            <a:rect l="l" t="t" r="r" b="b"/>
            <a:pathLst>
              <a:path w="2452759" h="2619769">
                <a:moveTo>
                  <a:pt x="0" y="0"/>
                </a:moveTo>
                <a:lnTo>
                  <a:pt x="2452759" y="0"/>
                </a:lnTo>
                <a:lnTo>
                  <a:pt x="2452759" y="2619769"/>
                </a:lnTo>
                <a:lnTo>
                  <a:pt x="0" y="261976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3978823" y="268849"/>
            <a:ext cx="10330354" cy="2555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823"/>
              </a:lnSpc>
              <a:spcBef>
                <a:spcPct val="0"/>
              </a:spcBef>
            </a:pPr>
            <a:r>
              <a:rPr lang="en-US" sz="14873">
                <a:solidFill>
                  <a:srgbClr val="42AA5D"/>
                </a:solidFill>
                <a:latin typeface="Sofia Sans"/>
                <a:ea typeface="Sofia Sans"/>
                <a:cs typeface="Sofia Sans"/>
                <a:sym typeface="Sofia Sans"/>
              </a:rPr>
              <a:t>ЦЕЛ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198458" y="2319934"/>
            <a:ext cx="9891083" cy="4786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91"/>
              </a:lnSpc>
            </a:pPr>
            <a:r>
              <a:rPr lang="en-US" sz="6399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С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истема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за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управление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на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банкови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сметки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.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Целта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е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да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се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помогне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на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клиентите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и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да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управляват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своите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банкови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сметки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,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баланси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и </a:t>
            </a:r>
            <a:r>
              <a:rPr lang="en-US" sz="6399" u="none" strike="noStrike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транзакции</a:t>
            </a:r>
            <a:r>
              <a:rPr lang="en-US" sz="6399" u="none" strike="noStrike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198458" y="7032623"/>
            <a:ext cx="9891083" cy="23003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91"/>
              </a:lnSpc>
            </a:pPr>
            <a:r>
              <a:rPr lang="en-US" sz="6399" u="none" strike="noStrike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Проектът е разработен като уеб приложение с Java и Spring Boot.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20777" r="-20777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806655" y="414579"/>
            <a:ext cx="3005711" cy="1803427"/>
          </a:xfrm>
          <a:custGeom>
            <a:avLst/>
            <a:gdLst/>
            <a:ahLst/>
            <a:cxnLst/>
            <a:rect l="l" t="t" r="r" b="b"/>
            <a:pathLst>
              <a:path w="3005711" h="1803427">
                <a:moveTo>
                  <a:pt x="0" y="0"/>
                </a:moveTo>
                <a:lnTo>
                  <a:pt x="3005711" y="0"/>
                </a:lnTo>
                <a:lnTo>
                  <a:pt x="3005711" y="1803427"/>
                </a:lnTo>
                <a:lnTo>
                  <a:pt x="0" y="180342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28700" y="-703008"/>
            <a:ext cx="9450375" cy="3105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6277"/>
              </a:lnSpc>
              <a:spcBef>
                <a:spcPct val="0"/>
              </a:spcBef>
            </a:pPr>
            <a:r>
              <a:rPr lang="en-US" sz="11626">
                <a:solidFill>
                  <a:srgbClr val="42AA5D"/>
                </a:solidFill>
                <a:latin typeface="Lumios Brush"/>
                <a:ea typeface="Lumios Brush"/>
                <a:cs typeface="Lumios Brush"/>
                <a:sym typeface="Lumios Brush"/>
              </a:rPr>
              <a:t>Kлючови</a:t>
            </a:r>
            <a:r>
              <a:rPr lang="en-US" sz="11626" u="none" strike="noStrike">
                <a:solidFill>
                  <a:srgbClr val="42AA5D"/>
                </a:solidFill>
                <a:latin typeface="Lumios Brush"/>
                <a:ea typeface="Lumios Brush"/>
                <a:cs typeface="Lumios Brush"/>
                <a:sym typeface="Lumios Brush"/>
              </a:rPr>
              <a:t> функции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2839417"/>
            <a:ext cx="1756834" cy="1595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2938"/>
              </a:lnSpc>
              <a:spcBef>
                <a:spcPct val="0"/>
              </a:spcBef>
            </a:pPr>
            <a:r>
              <a:rPr lang="en-US" sz="9242" u="none" strike="noStrike">
                <a:solidFill>
                  <a:srgbClr val="42AA5D"/>
                </a:solidFill>
                <a:latin typeface="Handelson Four"/>
                <a:ea typeface="Handelson Four"/>
                <a:cs typeface="Handelson Four"/>
                <a:sym typeface="Handelson Four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78" y="5908403"/>
            <a:ext cx="1756834" cy="1595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2938"/>
              </a:lnSpc>
              <a:spcBef>
                <a:spcPct val="0"/>
              </a:spcBef>
            </a:pPr>
            <a:r>
              <a:rPr lang="en-US" sz="9242" u="none" strike="noStrike">
                <a:solidFill>
                  <a:srgbClr val="42AA5D"/>
                </a:solidFill>
                <a:latin typeface="Handelson Four"/>
                <a:ea typeface="Handelson Four"/>
                <a:cs typeface="Handelson Four"/>
                <a:sym typeface="Handelson Four"/>
              </a:rPr>
              <a:t>03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882241" y="2839417"/>
            <a:ext cx="1756834" cy="1595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2938"/>
              </a:lnSpc>
              <a:spcBef>
                <a:spcPct val="0"/>
              </a:spcBef>
            </a:pPr>
            <a:r>
              <a:rPr lang="en-US" sz="9242" u="none" strike="noStrike">
                <a:solidFill>
                  <a:srgbClr val="42AA5D"/>
                </a:solidFill>
                <a:latin typeface="Handelson Four"/>
                <a:ea typeface="Handelson Four"/>
                <a:cs typeface="Handelson Four"/>
                <a:sym typeface="Handelson Four"/>
              </a:rPr>
              <a:t>02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82241" y="6106193"/>
            <a:ext cx="1756834" cy="1595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2938"/>
              </a:lnSpc>
              <a:spcBef>
                <a:spcPct val="0"/>
              </a:spcBef>
            </a:pPr>
            <a:r>
              <a:rPr lang="en-US" sz="9242" u="none" strike="noStrike">
                <a:solidFill>
                  <a:srgbClr val="42AA5D"/>
                </a:solidFill>
                <a:latin typeface="Handelson Four"/>
                <a:ea typeface="Handelson Four"/>
                <a:cs typeface="Handelson Four"/>
                <a:sym typeface="Handelson Four"/>
              </a:rPr>
              <a:t>04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2780811" y="3263476"/>
            <a:ext cx="6979846" cy="2420919"/>
            <a:chOff x="0" y="0"/>
            <a:chExt cx="9306462" cy="3227893"/>
          </a:xfrm>
        </p:grpSpPr>
        <p:sp>
          <p:nvSpPr>
            <p:cNvPr id="10" name="TextBox 10"/>
            <p:cNvSpPr txBox="1"/>
            <p:nvPr/>
          </p:nvSpPr>
          <p:spPr>
            <a:xfrm>
              <a:off x="0" y="-790575"/>
              <a:ext cx="9306462" cy="22045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799"/>
                </a:lnSpc>
                <a:spcBef>
                  <a:spcPct val="0"/>
                </a:spcBef>
              </a:pPr>
              <a:r>
                <a:rPr lang="en-US" sz="6999">
                  <a:solidFill>
                    <a:srgbClr val="000000"/>
                  </a:solidFill>
                  <a:latin typeface="Lumios Brush"/>
                  <a:ea typeface="Lumios Brush"/>
                  <a:cs typeface="Lumios Brush"/>
                  <a:sym typeface="Lumios Brush"/>
                </a:rPr>
                <a:t>Вход в системата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1680609"/>
              <a:ext cx="9306462" cy="15472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79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2785534" y="6523660"/>
            <a:ext cx="6096707" cy="2355456"/>
            <a:chOff x="0" y="0"/>
            <a:chExt cx="8128943" cy="3140608"/>
          </a:xfrm>
        </p:grpSpPr>
        <p:sp>
          <p:nvSpPr>
            <p:cNvPr id="13" name="TextBox 13"/>
            <p:cNvSpPr txBox="1"/>
            <p:nvPr/>
          </p:nvSpPr>
          <p:spPr>
            <a:xfrm>
              <a:off x="0" y="-790575"/>
              <a:ext cx="8128943" cy="22045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799"/>
                </a:lnSpc>
                <a:spcBef>
                  <a:spcPct val="0"/>
                </a:spcBef>
              </a:pPr>
              <a:r>
                <a:rPr lang="en-US" sz="6999">
                  <a:solidFill>
                    <a:srgbClr val="000000"/>
                  </a:solidFill>
                  <a:latin typeface="Lumios Brush"/>
                  <a:ea typeface="Lumios Brush"/>
                  <a:cs typeface="Lumios Brush"/>
                  <a:sym typeface="Lumios Brush"/>
                </a:rPr>
                <a:t>Управление на сесия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1593325"/>
              <a:ext cx="8128943" cy="15472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79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639074" y="3256884"/>
            <a:ext cx="6915735" cy="2355456"/>
            <a:chOff x="0" y="0"/>
            <a:chExt cx="9220980" cy="3140608"/>
          </a:xfrm>
        </p:grpSpPr>
        <p:sp>
          <p:nvSpPr>
            <p:cNvPr id="16" name="TextBox 16"/>
            <p:cNvSpPr txBox="1"/>
            <p:nvPr/>
          </p:nvSpPr>
          <p:spPr>
            <a:xfrm>
              <a:off x="0" y="-790575"/>
              <a:ext cx="9220980" cy="22045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799"/>
                </a:lnSpc>
                <a:spcBef>
                  <a:spcPct val="0"/>
                </a:spcBef>
              </a:pPr>
              <a:r>
                <a:rPr lang="en-US" sz="6999">
                  <a:solidFill>
                    <a:srgbClr val="000000"/>
                  </a:solidFill>
                  <a:latin typeface="Lumios Brush"/>
                  <a:ea typeface="Lumios Brush"/>
                  <a:cs typeface="Lumios Brush"/>
                  <a:sym typeface="Lumios Brush"/>
                </a:rPr>
                <a:t>Хеширане на пароли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1593325"/>
              <a:ext cx="9220980" cy="15472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79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624792" y="6650565"/>
            <a:ext cx="6634508" cy="2355456"/>
            <a:chOff x="0" y="0"/>
            <a:chExt cx="8846010" cy="3140608"/>
          </a:xfrm>
        </p:grpSpPr>
        <p:sp>
          <p:nvSpPr>
            <p:cNvPr id="19" name="TextBox 19"/>
            <p:cNvSpPr txBox="1"/>
            <p:nvPr/>
          </p:nvSpPr>
          <p:spPr>
            <a:xfrm>
              <a:off x="0" y="-790575"/>
              <a:ext cx="8846010" cy="22045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799"/>
                </a:lnSpc>
                <a:spcBef>
                  <a:spcPct val="0"/>
                </a:spcBef>
              </a:pPr>
              <a:r>
                <a:rPr lang="en-US" sz="6999">
                  <a:solidFill>
                    <a:srgbClr val="000000"/>
                  </a:solidFill>
                  <a:latin typeface="Lumios Brush"/>
                  <a:ea typeface="Lumios Brush"/>
                  <a:cs typeface="Lumios Brush"/>
                  <a:sym typeface="Lumios Brush"/>
                </a:rPr>
                <a:t>Потребителско табло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1593325"/>
              <a:ext cx="8846010" cy="15472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799"/>
                </a:lnSpc>
                <a:spcBef>
                  <a:spcPct val="0"/>
                </a:spcBef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20777" r="-20777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788972" y="465450"/>
            <a:ext cx="3838595" cy="2492973"/>
            <a:chOff x="0" y="0"/>
            <a:chExt cx="1010988" cy="65658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10988" cy="656586"/>
            </a:xfrm>
            <a:custGeom>
              <a:avLst/>
              <a:gdLst/>
              <a:ahLst/>
              <a:cxnLst/>
              <a:rect l="l" t="t" r="r" b="b"/>
              <a:pathLst>
                <a:path w="1010988" h="656586">
                  <a:moveTo>
                    <a:pt x="0" y="0"/>
                  </a:moveTo>
                  <a:lnTo>
                    <a:pt x="1010988" y="0"/>
                  </a:lnTo>
                  <a:lnTo>
                    <a:pt x="1010988" y="656586"/>
                  </a:lnTo>
                  <a:lnTo>
                    <a:pt x="0" y="65658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010988" cy="694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5358260" y="218976"/>
            <a:ext cx="4343713" cy="2980873"/>
          </a:xfrm>
          <a:custGeom>
            <a:avLst/>
            <a:gdLst/>
            <a:ahLst/>
            <a:cxnLst/>
            <a:rect l="l" t="t" r="r" b="b"/>
            <a:pathLst>
              <a:path w="4343713" h="2980873">
                <a:moveTo>
                  <a:pt x="0" y="0"/>
                </a:moveTo>
                <a:lnTo>
                  <a:pt x="4343713" y="0"/>
                </a:lnTo>
                <a:lnTo>
                  <a:pt x="4343713" y="2980873"/>
                </a:lnTo>
                <a:lnTo>
                  <a:pt x="0" y="29808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10359882" y="585688"/>
            <a:ext cx="3838595" cy="2492973"/>
            <a:chOff x="0" y="0"/>
            <a:chExt cx="1010988" cy="65658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10988" cy="656586"/>
            </a:xfrm>
            <a:custGeom>
              <a:avLst/>
              <a:gdLst/>
              <a:ahLst/>
              <a:cxnLst/>
              <a:rect l="l" t="t" r="r" b="b"/>
              <a:pathLst>
                <a:path w="1010988" h="656586">
                  <a:moveTo>
                    <a:pt x="0" y="0"/>
                  </a:moveTo>
                  <a:lnTo>
                    <a:pt x="1010988" y="0"/>
                  </a:lnTo>
                  <a:lnTo>
                    <a:pt x="1010988" y="656586"/>
                  </a:lnTo>
                  <a:lnTo>
                    <a:pt x="0" y="65658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1010988" cy="694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0018247" y="339214"/>
            <a:ext cx="4343713" cy="2980873"/>
          </a:xfrm>
          <a:custGeom>
            <a:avLst/>
            <a:gdLst/>
            <a:ahLst/>
            <a:cxnLst/>
            <a:rect l="l" t="t" r="r" b="b"/>
            <a:pathLst>
              <a:path w="4343713" h="2980873">
                <a:moveTo>
                  <a:pt x="0" y="0"/>
                </a:moveTo>
                <a:lnTo>
                  <a:pt x="4343713" y="0"/>
                </a:lnTo>
                <a:lnTo>
                  <a:pt x="4343713" y="2980873"/>
                </a:lnTo>
                <a:lnTo>
                  <a:pt x="0" y="29808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949639" y="6223787"/>
            <a:ext cx="3838595" cy="2492973"/>
            <a:chOff x="0" y="0"/>
            <a:chExt cx="1010988" cy="65658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10988" cy="656586"/>
            </a:xfrm>
            <a:custGeom>
              <a:avLst/>
              <a:gdLst/>
              <a:ahLst/>
              <a:cxnLst/>
              <a:rect l="l" t="t" r="r" b="b"/>
              <a:pathLst>
                <a:path w="1010988" h="656586">
                  <a:moveTo>
                    <a:pt x="0" y="0"/>
                  </a:moveTo>
                  <a:lnTo>
                    <a:pt x="1010988" y="0"/>
                  </a:lnTo>
                  <a:lnTo>
                    <a:pt x="1010988" y="656586"/>
                  </a:lnTo>
                  <a:lnTo>
                    <a:pt x="0" y="65658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010988" cy="694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444521" y="5977714"/>
            <a:ext cx="4343713" cy="2980873"/>
          </a:xfrm>
          <a:custGeom>
            <a:avLst/>
            <a:gdLst/>
            <a:ahLst/>
            <a:cxnLst/>
            <a:rect l="l" t="t" r="r" b="b"/>
            <a:pathLst>
              <a:path w="4343713" h="2980873">
                <a:moveTo>
                  <a:pt x="0" y="0"/>
                </a:moveTo>
                <a:lnTo>
                  <a:pt x="4343713" y="0"/>
                </a:lnTo>
                <a:lnTo>
                  <a:pt x="4343713" y="2980873"/>
                </a:lnTo>
                <a:lnTo>
                  <a:pt x="0" y="29808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5" name="Group 15"/>
          <p:cNvGrpSpPr/>
          <p:nvPr/>
        </p:nvGrpSpPr>
        <p:grpSpPr>
          <a:xfrm>
            <a:off x="13239673" y="3752212"/>
            <a:ext cx="3838595" cy="2492973"/>
            <a:chOff x="0" y="0"/>
            <a:chExt cx="1010988" cy="65658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10988" cy="656586"/>
            </a:xfrm>
            <a:custGeom>
              <a:avLst/>
              <a:gdLst/>
              <a:ahLst/>
              <a:cxnLst/>
              <a:rect l="l" t="t" r="r" b="b"/>
              <a:pathLst>
                <a:path w="1010988" h="656586">
                  <a:moveTo>
                    <a:pt x="0" y="0"/>
                  </a:moveTo>
                  <a:lnTo>
                    <a:pt x="1010988" y="0"/>
                  </a:lnTo>
                  <a:lnTo>
                    <a:pt x="1010988" y="656586"/>
                  </a:lnTo>
                  <a:lnTo>
                    <a:pt x="0" y="65658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010988" cy="694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2915587" y="3506139"/>
            <a:ext cx="4343713" cy="2980873"/>
          </a:xfrm>
          <a:custGeom>
            <a:avLst/>
            <a:gdLst/>
            <a:ahLst/>
            <a:cxnLst/>
            <a:rect l="l" t="t" r="r" b="b"/>
            <a:pathLst>
              <a:path w="4343713" h="2980873">
                <a:moveTo>
                  <a:pt x="0" y="0"/>
                </a:moveTo>
                <a:lnTo>
                  <a:pt x="4343713" y="0"/>
                </a:lnTo>
                <a:lnTo>
                  <a:pt x="4343713" y="2980873"/>
                </a:lnTo>
                <a:lnTo>
                  <a:pt x="0" y="29808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/>
          <p:cNvGrpSpPr/>
          <p:nvPr/>
        </p:nvGrpSpPr>
        <p:grpSpPr>
          <a:xfrm>
            <a:off x="6089971" y="7243146"/>
            <a:ext cx="3838595" cy="2492973"/>
            <a:chOff x="0" y="0"/>
            <a:chExt cx="1010988" cy="656585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10988" cy="656586"/>
            </a:xfrm>
            <a:custGeom>
              <a:avLst/>
              <a:gdLst/>
              <a:ahLst/>
              <a:cxnLst/>
              <a:rect l="l" t="t" r="r" b="b"/>
              <a:pathLst>
                <a:path w="1010988" h="656586">
                  <a:moveTo>
                    <a:pt x="0" y="0"/>
                  </a:moveTo>
                  <a:lnTo>
                    <a:pt x="1010988" y="0"/>
                  </a:lnTo>
                  <a:lnTo>
                    <a:pt x="1010988" y="656586"/>
                  </a:lnTo>
                  <a:lnTo>
                    <a:pt x="0" y="65658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1010988" cy="694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5837412" y="7068850"/>
            <a:ext cx="4343713" cy="2980873"/>
          </a:xfrm>
          <a:custGeom>
            <a:avLst/>
            <a:gdLst/>
            <a:ahLst/>
            <a:cxnLst/>
            <a:rect l="l" t="t" r="r" b="b"/>
            <a:pathLst>
              <a:path w="4343713" h="2980873">
                <a:moveTo>
                  <a:pt x="0" y="0"/>
                </a:moveTo>
                <a:lnTo>
                  <a:pt x="4343713" y="0"/>
                </a:lnTo>
                <a:lnTo>
                  <a:pt x="4343713" y="2980873"/>
                </a:lnTo>
                <a:lnTo>
                  <a:pt x="0" y="29808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23" name="Group 23"/>
          <p:cNvGrpSpPr/>
          <p:nvPr/>
        </p:nvGrpSpPr>
        <p:grpSpPr>
          <a:xfrm>
            <a:off x="11406499" y="7241023"/>
            <a:ext cx="3838595" cy="2492973"/>
            <a:chOff x="0" y="0"/>
            <a:chExt cx="1010988" cy="65658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010988" cy="656586"/>
            </a:xfrm>
            <a:custGeom>
              <a:avLst/>
              <a:gdLst/>
              <a:ahLst/>
              <a:cxnLst/>
              <a:rect l="l" t="t" r="r" b="b"/>
              <a:pathLst>
                <a:path w="1010988" h="656586">
                  <a:moveTo>
                    <a:pt x="0" y="0"/>
                  </a:moveTo>
                  <a:lnTo>
                    <a:pt x="1010988" y="0"/>
                  </a:lnTo>
                  <a:lnTo>
                    <a:pt x="1010988" y="656586"/>
                  </a:lnTo>
                  <a:lnTo>
                    <a:pt x="0" y="65658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1010988" cy="694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26"/>
          <p:cNvSpPr/>
          <p:nvPr/>
        </p:nvSpPr>
        <p:spPr>
          <a:xfrm>
            <a:off x="10990457" y="6997073"/>
            <a:ext cx="4343713" cy="2980873"/>
          </a:xfrm>
          <a:custGeom>
            <a:avLst/>
            <a:gdLst/>
            <a:ahLst/>
            <a:cxnLst/>
            <a:rect l="l" t="t" r="r" b="b"/>
            <a:pathLst>
              <a:path w="4343713" h="2980873">
                <a:moveTo>
                  <a:pt x="0" y="0"/>
                </a:moveTo>
                <a:lnTo>
                  <a:pt x="4343713" y="0"/>
                </a:lnTo>
                <a:lnTo>
                  <a:pt x="4343713" y="2980873"/>
                </a:lnTo>
                <a:lnTo>
                  <a:pt x="0" y="29808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1406499" y="4882971"/>
            <a:ext cx="1314855" cy="617982"/>
          </a:xfrm>
          <a:custGeom>
            <a:avLst/>
            <a:gdLst/>
            <a:ahLst/>
            <a:cxnLst/>
            <a:rect l="l" t="t" r="r" b="b"/>
            <a:pathLst>
              <a:path w="1314855" h="617982">
                <a:moveTo>
                  <a:pt x="0" y="0"/>
                </a:moveTo>
                <a:lnTo>
                  <a:pt x="1314855" y="0"/>
                </a:lnTo>
                <a:lnTo>
                  <a:pt x="1314855" y="617982"/>
                </a:lnTo>
                <a:lnTo>
                  <a:pt x="0" y="6179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 rot="-818699" flipH="1">
            <a:off x="5091518" y="5722661"/>
            <a:ext cx="1314855" cy="617982"/>
          </a:xfrm>
          <a:custGeom>
            <a:avLst/>
            <a:gdLst/>
            <a:ahLst/>
            <a:cxnLst/>
            <a:rect l="l" t="t" r="r" b="b"/>
            <a:pathLst>
              <a:path w="1314855" h="617982">
                <a:moveTo>
                  <a:pt x="1314855" y="0"/>
                </a:moveTo>
                <a:lnTo>
                  <a:pt x="0" y="0"/>
                </a:lnTo>
                <a:lnTo>
                  <a:pt x="0" y="617982"/>
                </a:lnTo>
                <a:lnTo>
                  <a:pt x="1314855" y="617982"/>
                </a:lnTo>
                <a:lnTo>
                  <a:pt x="1314855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 rot="4168007" flipH="1">
            <a:off x="7558810" y="3416536"/>
            <a:ext cx="1314855" cy="617982"/>
          </a:xfrm>
          <a:custGeom>
            <a:avLst/>
            <a:gdLst/>
            <a:ahLst/>
            <a:cxnLst/>
            <a:rect l="l" t="t" r="r" b="b"/>
            <a:pathLst>
              <a:path w="1314855" h="617982">
                <a:moveTo>
                  <a:pt x="1314856" y="0"/>
                </a:moveTo>
                <a:lnTo>
                  <a:pt x="0" y="0"/>
                </a:lnTo>
                <a:lnTo>
                  <a:pt x="0" y="617982"/>
                </a:lnTo>
                <a:lnTo>
                  <a:pt x="1314856" y="617982"/>
                </a:lnTo>
                <a:lnTo>
                  <a:pt x="1314856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 rot="-3233078" flipH="1">
            <a:off x="7691598" y="6205066"/>
            <a:ext cx="1078814" cy="507042"/>
          </a:xfrm>
          <a:custGeom>
            <a:avLst/>
            <a:gdLst/>
            <a:ahLst/>
            <a:cxnLst/>
            <a:rect l="l" t="t" r="r" b="b"/>
            <a:pathLst>
              <a:path w="1078814" h="507042">
                <a:moveTo>
                  <a:pt x="1078813" y="0"/>
                </a:moveTo>
                <a:lnTo>
                  <a:pt x="0" y="0"/>
                </a:lnTo>
                <a:lnTo>
                  <a:pt x="0" y="507042"/>
                </a:lnTo>
                <a:lnTo>
                  <a:pt x="1078813" y="507042"/>
                </a:lnTo>
                <a:lnTo>
                  <a:pt x="1078813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 rot="4039465">
            <a:off x="10994122" y="6034129"/>
            <a:ext cx="1314855" cy="617982"/>
          </a:xfrm>
          <a:custGeom>
            <a:avLst/>
            <a:gdLst/>
            <a:ahLst/>
            <a:cxnLst/>
            <a:rect l="l" t="t" r="r" b="b"/>
            <a:pathLst>
              <a:path w="1314855" h="617982">
                <a:moveTo>
                  <a:pt x="0" y="0"/>
                </a:moveTo>
                <a:lnTo>
                  <a:pt x="1314855" y="0"/>
                </a:lnTo>
                <a:lnTo>
                  <a:pt x="1314855" y="617982"/>
                </a:lnTo>
                <a:lnTo>
                  <a:pt x="0" y="6179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 rot="-4127326" flipV="1">
            <a:off x="10906065" y="3580423"/>
            <a:ext cx="1314855" cy="617982"/>
          </a:xfrm>
          <a:custGeom>
            <a:avLst/>
            <a:gdLst/>
            <a:ahLst/>
            <a:cxnLst/>
            <a:rect l="l" t="t" r="r" b="b"/>
            <a:pathLst>
              <a:path w="1314855" h="617982">
                <a:moveTo>
                  <a:pt x="0" y="617982"/>
                </a:moveTo>
                <a:lnTo>
                  <a:pt x="1314855" y="617982"/>
                </a:lnTo>
                <a:lnTo>
                  <a:pt x="1314855" y="0"/>
                </a:lnTo>
                <a:lnTo>
                  <a:pt x="0" y="0"/>
                </a:lnTo>
                <a:lnTo>
                  <a:pt x="0" y="617982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33" name="TextBox 33"/>
          <p:cNvSpPr txBox="1"/>
          <p:nvPr/>
        </p:nvSpPr>
        <p:spPr>
          <a:xfrm>
            <a:off x="5837412" y="4199735"/>
            <a:ext cx="6009936" cy="2659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59"/>
              </a:lnSpc>
              <a:spcBef>
                <a:spcPct val="0"/>
              </a:spcBef>
            </a:pPr>
            <a:r>
              <a:rPr lang="en-US" sz="9000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Използвани</a:t>
            </a:r>
            <a:r>
              <a:rPr lang="en-US" sz="9000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9000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технологий</a:t>
            </a:r>
            <a:endParaRPr lang="en-US" sz="9000" dirty="0">
              <a:solidFill>
                <a:srgbClr val="000000"/>
              </a:solidFill>
              <a:latin typeface="Lumios Brush"/>
              <a:ea typeface="Lumios Brush"/>
              <a:cs typeface="Lumios Brush"/>
              <a:sym typeface="Lumios Brush"/>
            </a:endParaRPr>
          </a:p>
        </p:txBody>
      </p:sp>
      <p:grpSp>
        <p:nvGrpSpPr>
          <p:cNvPr id="34" name="Group 34"/>
          <p:cNvGrpSpPr/>
          <p:nvPr/>
        </p:nvGrpSpPr>
        <p:grpSpPr>
          <a:xfrm>
            <a:off x="5863378" y="690054"/>
            <a:ext cx="3511629" cy="1899410"/>
            <a:chOff x="0" y="0"/>
            <a:chExt cx="4682172" cy="2532547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561975"/>
              <a:ext cx="4682172" cy="15499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6870"/>
                </a:lnSpc>
                <a:spcBef>
                  <a:spcPct val="0"/>
                </a:spcBef>
              </a:pPr>
              <a:r>
                <a:rPr lang="en-US" sz="4907">
                  <a:solidFill>
                    <a:srgbClr val="000000"/>
                  </a:solidFill>
                  <a:latin typeface="Lumios Brush"/>
                  <a:ea typeface="Lumios Brush"/>
                  <a:cs typeface="Lumios Brush"/>
                  <a:sym typeface="Lumios Brush"/>
                </a:rPr>
                <a:t>Java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1045389"/>
              <a:ext cx="4682172" cy="14871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290"/>
                </a:lnSpc>
                <a:spcBef>
                  <a:spcPct val="0"/>
                </a:spcBef>
              </a:pPr>
              <a:r>
                <a:rPr lang="en-US" sz="1635" u="none" strike="noStrike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Lorem ipsum dolor sit amet, consectetur adipiscing elit. Ut a enim nec nisl ullamcorper eleifend. Praesent risus leo, fringilla et ipsum.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0523365" y="810291"/>
            <a:ext cx="3511629" cy="1899410"/>
            <a:chOff x="0" y="0"/>
            <a:chExt cx="4682172" cy="2532547"/>
          </a:xfrm>
        </p:grpSpPr>
        <p:sp>
          <p:nvSpPr>
            <p:cNvPr id="38" name="TextBox 38"/>
            <p:cNvSpPr txBox="1"/>
            <p:nvPr/>
          </p:nvSpPr>
          <p:spPr>
            <a:xfrm>
              <a:off x="0" y="-561975"/>
              <a:ext cx="4682172" cy="15499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6870"/>
                </a:lnSpc>
                <a:spcBef>
                  <a:spcPct val="0"/>
                </a:spcBef>
              </a:pPr>
              <a:r>
                <a:rPr lang="en-US" sz="4907">
                  <a:solidFill>
                    <a:srgbClr val="000000"/>
                  </a:solidFill>
                  <a:latin typeface="Lumios Brush"/>
                  <a:ea typeface="Lumios Brush"/>
                  <a:cs typeface="Lumios Brush"/>
                  <a:sym typeface="Lumios Brush"/>
                </a:rPr>
                <a:t>Spri</a:t>
              </a:r>
              <a:r>
                <a:rPr lang="en-US" sz="4907" u="none" strike="noStrike">
                  <a:solidFill>
                    <a:srgbClr val="000000"/>
                  </a:solidFill>
                  <a:latin typeface="Lumios Brush"/>
                  <a:ea typeface="Lumios Brush"/>
                  <a:cs typeface="Lumios Brush"/>
                  <a:sym typeface="Lumios Brush"/>
                </a:rPr>
                <a:t>ng Boot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1045389"/>
              <a:ext cx="4682172" cy="14871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290"/>
                </a:lnSpc>
                <a:spcBef>
                  <a:spcPct val="0"/>
                </a:spcBef>
              </a:pPr>
              <a:r>
                <a:rPr lang="en-US" sz="1635" u="none" strike="noStrike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Lorem ipsum dolor sit amet, consectetur adipiscing elit. Ut a enim nec nisl ullamcorper eleifend. Praesent risus leo, fringilla et ipsum.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49639" y="6448792"/>
            <a:ext cx="3511629" cy="1899410"/>
            <a:chOff x="0" y="0"/>
            <a:chExt cx="4682172" cy="2532547"/>
          </a:xfrm>
        </p:grpSpPr>
        <p:sp>
          <p:nvSpPr>
            <p:cNvPr id="41" name="TextBox 41"/>
            <p:cNvSpPr txBox="1"/>
            <p:nvPr/>
          </p:nvSpPr>
          <p:spPr>
            <a:xfrm>
              <a:off x="0" y="-561975"/>
              <a:ext cx="4682172" cy="15499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6870"/>
                </a:lnSpc>
                <a:spcBef>
                  <a:spcPct val="0"/>
                </a:spcBef>
              </a:pPr>
              <a:r>
                <a:rPr lang="en-US" sz="4907" dirty="0" err="1">
                  <a:solidFill>
                    <a:srgbClr val="000000"/>
                  </a:solidFill>
                  <a:latin typeface="Lumios Brush"/>
                  <a:ea typeface="Lumios Brush"/>
                  <a:cs typeface="Lumios Brush"/>
                  <a:sym typeface="Lumios Brush"/>
                </a:rPr>
                <a:t>Thymeleaf</a:t>
              </a:r>
              <a:endParaRPr lang="en-US" sz="4907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1045389"/>
              <a:ext cx="4682172" cy="14871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290"/>
                </a:lnSpc>
                <a:spcBef>
                  <a:spcPct val="0"/>
                </a:spcBef>
              </a:pPr>
              <a:r>
                <a:rPr lang="en-US" sz="1635" u="none" strike="noStrike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Lorem ipsum dolor sit amet, consectetur adipiscing elit. Ut a enim nec nisl ullamcorper eleifend. Praesent risus leo, fringilla et ipsum.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3420705" y="3977217"/>
            <a:ext cx="3511629" cy="1899410"/>
            <a:chOff x="0" y="0"/>
            <a:chExt cx="4682172" cy="2532547"/>
          </a:xfrm>
        </p:grpSpPr>
        <p:sp>
          <p:nvSpPr>
            <p:cNvPr id="44" name="TextBox 44"/>
            <p:cNvSpPr txBox="1"/>
            <p:nvPr/>
          </p:nvSpPr>
          <p:spPr>
            <a:xfrm>
              <a:off x="0" y="-561975"/>
              <a:ext cx="4682172" cy="15499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6870"/>
                </a:lnSpc>
                <a:spcBef>
                  <a:spcPct val="0"/>
                </a:spcBef>
              </a:pPr>
              <a:r>
                <a:rPr lang="en-US" sz="4907">
                  <a:solidFill>
                    <a:srgbClr val="000000"/>
                  </a:solidFill>
                  <a:latin typeface="Lumios Brush"/>
                  <a:ea typeface="Lumios Brush"/>
                  <a:cs typeface="Lumios Brush"/>
                  <a:sym typeface="Lumios Brush"/>
                </a:rPr>
                <a:t>P</a:t>
              </a:r>
              <a:r>
                <a:rPr lang="en-US" sz="4907" u="none" strike="noStrike">
                  <a:solidFill>
                    <a:srgbClr val="000000"/>
                  </a:solidFill>
                  <a:latin typeface="Lumios Brush"/>
                  <a:ea typeface="Lumios Brush"/>
                  <a:cs typeface="Lumios Brush"/>
                  <a:sym typeface="Lumios Brush"/>
                </a:rPr>
                <a:t>ostgreSQL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1045389"/>
              <a:ext cx="4682172" cy="14871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290"/>
                </a:lnSpc>
                <a:spcBef>
                  <a:spcPct val="0"/>
                </a:spcBef>
              </a:pPr>
              <a:r>
                <a:rPr lang="en-US" sz="1635" u="none" strike="noStrike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Lorem ipsum dolor sit amet, consectetur adipiscing elit. Ut a enim nec nisl ullamcorper eleifend. Praesent risus leo, fringilla et ipsum.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342531" y="7539928"/>
            <a:ext cx="3511629" cy="1899410"/>
            <a:chOff x="0" y="0"/>
            <a:chExt cx="4682172" cy="2532547"/>
          </a:xfrm>
        </p:grpSpPr>
        <p:sp>
          <p:nvSpPr>
            <p:cNvPr id="47" name="TextBox 47"/>
            <p:cNvSpPr txBox="1"/>
            <p:nvPr/>
          </p:nvSpPr>
          <p:spPr>
            <a:xfrm>
              <a:off x="0" y="-561975"/>
              <a:ext cx="4682172" cy="15499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6870"/>
                </a:lnSpc>
                <a:spcBef>
                  <a:spcPct val="0"/>
                </a:spcBef>
              </a:pPr>
              <a:r>
                <a:rPr lang="en-US" sz="4907">
                  <a:solidFill>
                    <a:srgbClr val="000000"/>
                  </a:solidFill>
                  <a:latin typeface="Lumios Brush"/>
                  <a:ea typeface="Lumios Brush"/>
                  <a:cs typeface="Lumios Brush"/>
                  <a:sym typeface="Lumios Brush"/>
                </a:rPr>
                <a:t>HTML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1045389"/>
              <a:ext cx="4682172" cy="14871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290"/>
                </a:lnSpc>
                <a:spcBef>
                  <a:spcPct val="0"/>
                </a:spcBef>
              </a:pPr>
              <a:r>
                <a:rPr lang="en-US" sz="1635" u="none" strike="noStrike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Lorem ipsum dolor sit amet, consectetur adipiscing elit. Ut a enim nec nisl ullamcorper eleifend. Praesent risus leo, fringilla et ipsum.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1495575" y="7468151"/>
            <a:ext cx="3511629" cy="1899410"/>
            <a:chOff x="0" y="0"/>
            <a:chExt cx="4682172" cy="2532547"/>
          </a:xfrm>
        </p:grpSpPr>
        <p:sp>
          <p:nvSpPr>
            <p:cNvPr id="50" name="TextBox 50"/>
            <p:cNvSpPr txBox="1"/>
            <p:nvPr/>
          </p:nvSpPr>
          <p:spPr>
            <a:xfrm>
              <a:off x="0" y="-561975"/>
              <a:ext cx="4682172" cy="15499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6870"/>
                </a:lnSpc>
                <a:spcBef>
                  <a:spcPct val="0"/>
                </a:spcBef>
              </a:pPr>
              <a:r>
                <a:rPr lang="en-US" sz="4907">
                  <a:solidFill>
                    <a:srgbClr val="000000"/>
                  </a:solidFill>
                  <a:latin typeface="Lumios Brush"/>
                  <a:ea typeface="Lumios Brush"/>
                  <a:cs typeface="Lumios Brush"/>
                  <a:sym typeface="Lumios Brush"/>
                </a:rPr>
                <a:t>Mave</a:t>
              </a:r>
              <a:r>
                <a:rPr lang="en-US" sz="4907" u="none" strike="noStrike">
                  <a:solidFill>
                    <a:srgbClr val="000000"/>
                  </a:solidFill>
                  <a:latin typeface="Lumios Brush"/>
                  <a:ea typeface="Lumios Brush"/>
                  <a:cs typeface="Lumios Brush"/>
                  <a:sym typeface="Lumios Brush"/>
                </a:rPr>
                <a:t>n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1045389"/>
              <a:ext cx="4682172" cy="14871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290"/>
                </a:lnSpc>
                <a:spcBef>
                  <a:spcPct val="0"/>
                </a:spcBef>
              </a:pPr>
              <a:r>
                <a:rPr lang="en-US" sz="1635" u="none" strike="noStrike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Lorem ipsum dolor sit amet, consectetur adipiscing elit. Ut a enim nec nisl ullamcorper eleifend. Praesent risus leo, fringilla et ipsum.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861756" y="2609816"/>
            <a:ext cx="3838595" cy="2492973"/>
            <a:chOff x="0" y="0"/>
            <a:chExt cx="1010988" cy="656585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010988" cy="656586"/>
            </a:xfrm>
            <a:custGeom>
              <a:avLst/>
              <a:gdLst/>
              <a:ahLst/>
              <a:cxnLst/>
              <a:rect l="l" t="t" r="r" b="b"/>
              <a:pathLst>
                <a:path w="1010988" h="656586">
                  <a:moveTo>
                    <a:pt x="0" y="0"/>
                  </a:moveTo>
                  <a:lnTo>
                    <a:pt x="1010988" y="0"/>
                  </a:lnTo>
                  <a:lnTo>
                    <a:pt x="1010988" y="656586"/>
                  </a:lnTo>
                  <a:lnTo>
                    <a:pt x="0" y="65658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38100"/>
              <a:ext cx="1010988" cy="694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5" name="Freeform 55"/>
          <p:cNvSpPr/>
          <p:nvPr/>
        </p:nvSpPr>
        <p:spPr>
          <a:xfrm>
            <a:off x="356637" y="2363743"/>
            <a:ext cx="4343713" cy="2980873"/>
          </a:xfrm>
          <a:custGeom>
            <a:avLst/>
            <a:gdLst/>
            <a:ahLst/>
            <a:cxnLst/>
            <a:rect l="l" t="t" r="r" b="b"/>
            <a:pathLst>
              <a:path w="4343713" h="2980873">
                <a:moveTo>
                  <a:pt x="0" y="0"/>
                </a:moveTo>
                <a:lnTo>
                  <a:pt x="4343713" y="0"/>
                </a:lnTo>
                <a:lnTo>
                  <a:pt x="4343713" y="2980873"/>
                </a:lnTo>
                <a:lnTo>
                  <a:pt x="0" y="29808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56" name="Group 56"/>
          <p:cNvGrpSpPr/>
          <p:nvPr/>
        </p:nvGrpSpPr>
        <p:grpSpPr>
          <a:xfrm>
            <a:off x="861756" y="2834821"/>
            <a:ext cx="3511629" cy="1899410"/>
            <a:chOff x="0" y="0"/>
            <a:chExt cx="4682172" cy="2532547"/>
          </a:xfrm>
        </p:grpSpPr>
        <p:sp>
          <p:nvSpPr>
            <p:cNvPr id="57" name="TextBox 57"/>
            <p:cNvSpPr txBox="1"/>
            <p:nvPr/>
          </p:nvSpPr>
          <p:spPr>
            <a:xfrm>
              <a:off x="0" y="-561975"/>
              <a:ext cx="4682172" cy="15499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6870"/>
                </a:lnSpc>
                <a:spcBef>
                  <a:spcPct val="0"/>
                </a:spcBef>
              </a:pPr>
              <a:r>
                <a:rPr lang="en-US" sz="4907">
                  <a:solidFill>
                    <a:srgbClr val="000000"/>
                  </a:solidFill>
                  <a:latin typeface="Lumios Brush"/>
                  <a:ea typeface="Lumios Brush"/>
                  <a:cs typeface="Lumios Brush"/>
                  <a:sym typeface="Lumios Brush"/>
                </a:rPr>
                <a:t>CSS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1045389"/>
              <a:ext cx="4682172" cy="14871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290"/>
                </a:lnSpc>
                <a:spcBef>
                  <a:spcPct val="0"/>
                </a:spcBef>
              </a:pPr>
              <a:r>
                <a:rPr lang="en-US" sz="1635" u="none" strike="noStrike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Lorem ipsum dolor sit amet, consectetur adipiscing elit. Ut a enim nec nisl ullamcorper eleifend. Praesent risus leo, fringilla et ipsum.</a:t>
              </a:r>
            </a:p>
          </p:txBody>
        </p:sp>
      </p:grpSp>
      <p:sp>
        <p:nvSpPr>
          <p:cNvPr id="59" name="Freeform 59"/>
          <p:cNvSpPr/>
          <p:nvPr/>
        </p:nvSpPr>
        <p:spPr>
          <a:xfrm rot="1733290" flipH="1">
            <a:off x="4960209" y="4098129"/>
            <a:ext cx="1314855" cy="617982"/>
          </a:xfrm>
          <a:custGeom>
            <a:avLst/>
            <a:gdLst/>
            <a:ahLst/>
            <a:cxnLst/>
            <a:rect l="l" t="t" r="r" b="b"/>
            <a:pathLst>
              <a:path w="1314855" h="617982">
                <a:moveTo>
                  <a:pt x="1314855" y="0"/>
                </a:moveTo>
                <a:lnTo>
                  <a:pt x="0" y="0"/>
                </a:lnTo>
                <a:lnTo>
                  <a:pt x="0" y="617982"/>
                </a:lnTo>
                <a:lnTo>
                  <a:pt x="1314855" y="617982"/>
                </a:lnTo>
                <a:lnTo>
                  <a:pt x="1314855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330692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20777" r="-20777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133765" y="987090"/>
            <a:ext cx="14020470" cy="6720098"/>
            <a:chOff x="0" y="0"/>
            <a:chExt cx="3692634" cy="176990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692634" cy="1769902"/>
            </a:xfrm>
            <a:custGeom>
              <a:avLst/>
              <a:gdLst/>
              <a:ahLst/>
              <a:cxnLst/>
              <a:rect l="l" t="t" r="r" b="b"/>
              <a:pathLst>
                <a:path w="3692634" h="1769902">
                  <a:moveTo>
                    <a:pt x="37549" y="0"/>
                  </a:moveTo>
                  <a:lnTo>
                    <a:pt x="3655085" y="0"/>
                  </a:lnTo>
                  <a:cubicBezTo>
                    <a:pt x="3675823" y="0"/>
                    <a:pt x="3692634" y="16811"/>
                    <a:pt x="3692634" y="37549"/>
                  </a:cubicBezTo>
                  <a:lnTo>
                    <a:pt x="3692634" y="1732354"/>
                  </a:lnTo>
                  <a:cubicBezTo>
                    <a:pt x="3692634" y="1753091"/>
                    <a:pt x="3675823" y="1769902"/>
                    <a:pt x="3655085" y="1769902"/>
                  </a:cubicBezTo>
                  <a:lnTo>
                    <a:pt x="37549" y="1769902"/>
                  </a:lnTo>
                  <a:cubicBezTo>
                    <a:pt x="16811" y="1769902"/>
                    <a:pt x="0" y="1753091"/>
                    <a:pt x="0" y="1732354"/>
                  </a:cubicBezTo>
                  <a:lnTo>
                    <a:pt x="0" y="37549"/>
                  </a:lnTo>
                  <a:cubicBezTo>
                    <a:pt x="0" y="16811"/>
                    <a:pt x="16811" y="0"/>
                    <a:pt x="37549" y="0"/>
                  </a:cubicBezTo>
                  <a:close/>
                </a:path>
              </a:pathLst>
            </a:custGeom>
            <a:solidFill>
              <a:srgbClr val="42AA5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3692634" cy="18080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68862" y="1097942"/>
            <a:ext cx="18119137" cy="57678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22876"/>
              </a:lnSpc>
              <a:spcBef>
                <a:spcPct val="0"/>
              </a:spcBef>
            </a:pPr>
            <a:r>
              <a:rPr lang="en-US" sz="16340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Да</a:t>
            </a:r>
            <a:r>
              <a:rPr lang="en-US" sz="16340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16340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преминем</a:t>
            </a:r>
            <a:r>
              <a:rPr lang="en-US" sz="16340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16340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към</a:t>
            </a:r>
            <a:r>
              <a:rPr lang="en-US" sz="16340" dirty="0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 </a:t>
            </a:r>
            <a:r>
              <a:rPr lang="en-US" sz="16340" dirty="0" err="1">
                <a:solidFill>
                  <a:srgbClr val="000000"/>
                </a:solidFill>
                <a:latin typeface="Lumios Brush"/>
                <a:ea typeface="Lumios Brush"/>
                <a:cs typeface="Lumios Brush"/>
                <a:sym typeface="Lumios Brush"/>
              </a:rPr>
              <a:t>проекта</a:t>
            </a:r>
            <a:endParaRPr lang="en-US" sz="16340" dirty="0">
              <a:solidFill>
                <a:srgbClr val="000000"/>
              </a:solidFill>
              <a:latin typeface="Lumios Brush"/>
              <a:ea typeface="Lumios Brush"/>
              <a:cs typeface="Lumios Brush"/>
              <a:sym typeface="Lumios Brush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-563060" y="7157889"/>
            <a:ext cx="4110491" cy="3129111"/>
          </a:xfrm>
          <a:custGeom>
            <a:avLst/>
            <a:gdLst/>
            <a:ahLst/>
            <a:cxnLst/>
            <a:rect l="l" t="t" r="r" b="b"/>
            <a:pathLst>
              <a:path w="4110491" h="3129111">
                <a:moveTo>
                  <a:pt x="0" y="0"/>
                </a:moveTo>
                <a:lnTo>
                  <a:pt x="4110491" y="0"/>
                </a:lnTo>
                <a:lnTo>
                  <a:pt x="4110491" y="3129111"/>
                </a:lnTo>
                <a:lnTo>
                  <a:pt x="0" y="312911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902432" y="7770772"/>
            <a:ext cx="3492378" cy="1903346"/>
          </a:xfrm>
          <a:custGeom>
            <a:avLst/>
            <a:gdLst/>
            <a:ahLst/>
            <a:cxnLst/>
            <a:rect l="l" t="t" r="r" b="b"/>
            <a:pathLst>
              <a:path w="3492378" h="1903346">
                <a:moveTo>
                  <a:pt x="0" y="0"/>
                </a:moveTo>
                <a:lnTo>
                  <a:pt x="3492378" y="0"/>
                </a:lnTo>
                <a:lnTo>
                  <a:pt x="3492378" y="1903345"/>
                </a:lnTo>
                <a:lnTo>
                  <a:pt x="0" y="19033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787516">
            <a:off x="14364297" y="-735886"/>
            <a:ext cx="3579876" cy="4114800"/>
          </a:xfrm>
          <a:custGeom>
            <a:avLst/>
            <a:gdLst/>
            <a:ahLst/>
            <a:cxnLst/>
            <a:rect l="l" t="t" r="r" b="b"/>
            <a:pathLst>
              <a:path w="3579876" h="4114800">
                <a:moveTo>
                  <a:pt x="0" y="0"/>
                </a:moveTo>
                <a:lnTo>
                  <a:pt x="3579876" y="0"/>
                </a:lnTo>
                <a:lnTo>
                  <a:pt x="35798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503938" y="3744378"/>
            <a:ext cx="3510725" cy="3264974"/>
          </a:xfrm>
          <a:custGeom>
            <a:avLst/>
            <a:gdLst/>
            <a:ahLst/>
            <a:cxnLst/>
            <a:rect l="l" t="t" r="r" b="b"/>
            <a:pathLst>
              <a:path w="3510725" h="3264974">
                <a:moveTo>
                  <a:pt x="0" y="0"/>
                </a:moveTo>
                <a:lnTo>
                  <a:pt x="3510724" y="0"/>
                </a:lnTo>
                <a:lnTo>
                  <a:pt x="3510724" y="3264975"/>
                </a:lnTo>
                <a:lnTo>
                  <a:pt x="0" y="326497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-1425957" y="4643440"/>
            <a:ext cx="3978802" cy="2387281"/>
          </a:xfrm>
          <a:custGeom>
            <a:avLst/>
            <a:gdLst/>
            <a:ahLst/>
            <a:cxnLst/>
            <a:rect l="l" t="t" r="r" b="b"/>
            <a:pathLst>
              <a:path w="3978802" h="2387281">
                <a:moveTo>
                  <a:pt x="0" y="0"/>
                </a:moveTo>
                <a:lnTo>
                  <a:pt x="3978803" y="0"/>
                </a:lnTo>
                <a:lnTo>
                  <a:pt x="3978803" y="2387281"/>
                </a:lnTo>
                <a:lnTo>
                  <a:pt x="0" y="238728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277</Words>
  <Application>Microsoft Office PowerPoint</Application>
  <PresentationFormat>Custom</PresentationFormat>
  <Paragraphs>31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Lumios Brush</vt:lpstr>
      <vt:lpstr>Handelson Four</vt:lpstr>
      <vt:lpstr>DM Sans</vt:lpstr>
      <vt:lpstr>Sofia Sans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finance</dc:title>
  <cp:lastModifiedBy>Мартин Емануилов Димитров</cp:lastModifiedBy>
  <cp:revision>2</cp:revision>
  <dcterms:created xsi:type="dcterms:W3CDTF">2006-08-16T00:00:00Z</dcterms:created>
  <dcterms:modified xsi:type="dcterms:W3CDTF">2026-09-25T06:15:12Z</dcterms:modified>
  <dc:identifier>DAHWHgvbHMQ</dc:identifier>
</cp:coreProperties>
</file>